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84" r:id="rId4"/>
    <p:sldId id="260" r:id="rId5"/>
    <p:sldId id="261" r:id="rId6"/>
    <p:sldId id="272" r:id="rId7"/>
    <p:sldId id="262" r:id="rId8"/>
    <p:sldId id="273" r:id="rId9"/>
    <p:sldId id="274" r:id="rId10"/>
    <p:sldId id="275" r:id="rId11"/>
    <p:sldId id="282" r:id="rId12"/>
    <p:sldId id="277" r:id="rId13"/>
    <p:sldId id="279" r:id="rId14"/>
    <p:sldId id="280" r:id="rId15"/>
    <p:sldId id="28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C3E6"/>
    <a:srgbClr val="8AA7DA"/>
    <a:srgbClr val="8FBCFF"/>
    <a:srgbClr val="79A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637FF8-B088-472B-8FDD-161EEC2E9341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8FF12B-5844-4C05-9EBA-779E8C2E4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298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93CCF-DE99-39A0-6431-72B1343D5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D276CE-C60A-28DD-C5C0-E1B4818151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E45BBB-DAED-B0AC-B17A-77C0176E7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AF545-0767-4A2E-FAF8-E763C0E8A5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FF12B-5844-4C05-9EBA-779E8C2E476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6739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FF12B-5844-4C05-9EBA-779E8C2E4769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6795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5E8B9-BEF9-34E8-0373-8BE40C767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05DC8F-2CA5-0E33-C509-26795740DF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4C191F-628E-12D6-3F09-149BD276A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07265-447E-EC0D-8E7B-7C3369FCB5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FF12B-5844-4C05-9EBA-779E8C2E476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8424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3980C-62CC-97DB-316D-C62BAFDA9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076B1C-8F04-F899-3D28-94CC16A5AB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7B5E68-99AE-B942-E2EE-4BC7899631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1921F-377A-ECE8-CC51-5E4B866CB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FF12B-5844-4C05-9EBA-779E8C2E4769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8475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8E6F6-8D2A-830A-7A97-C71623885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2E65A0-E0F2-FF47-9A26-05BD383A7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EBE019-1D17-A87D-25F4-AFC2A1A52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C054F-C996-A9FC-A8AA-8345BE9AE9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FF12B-5844-4C05-9EBA-779E8C2E4769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143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8F9EA-FBAD-4930-DA09-2C42FA42D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653763-993C-9D11-F11B-D2315B5BD2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A3E818-BF35-59E2-7D13-8BB5FA43C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D3C28-CF3F-189A-E4AF-F64EB8C340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FF12B-5844-4C05-9EBA-779E8C2E4769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6075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4E804-A0EC-56CD-5AF9-BD3D4FF03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CE327E-85D3-2197-1EE9-E29FA00CD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2F737B-D81D-0A42-FD9F-6C5BD2DC5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E5977-2A3E-1BCF-91BE-A2AD50C74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FF12B-5844-4C05-9EBA-779E8C2E4769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88846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09E61-FBB6-A800-B47D-D57BD942A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4B76F9-5829-3BCB-F4CB-25253B1E76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85A1B3-064E-1025-68F5-2799C4A1B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E0221-7E04-84EE-94E5-B019688E3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FF12B-5844-4C05-9EBA-779E8C2E4769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40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067DF-79BA-D2A7-B37A-1C55085F7F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0E33A-11DF-782F-3B4D-25475DD64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674E2-CCF0-66C3-A829-B015248EA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0A8CC-36AB-4287-8D37-56C4D043EC4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6BC69-491C-18B3-10AC-9E9FD8D7F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213C3-BA8A-6984-DE3B-3FFA8B6A1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CC84C-3B48-46D5-97FD-D6CAA5138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579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F3E41-F301-7929-2091-3C6D464FF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0353E-4FFD-A1F5-BEE8-A52AC2149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0F7A4-758E-9C11-6A1E-909BB49A4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0A8CC-36AB-4287-8D37-56C4D043EC4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14C5A-4F47-C20B-E738-E7116E866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2A94A-7309-5486-6A9B-88D9AAF37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CC84C-3B48-46D5-97FD-D6CAA5138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412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5A6AE-12BE-CE95-B330-CC8C80831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1F19A1-2EBD-7826-A51B-F44C0CE7A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E010B-9F93-D4DD-24EE-872918125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0A8CC-36AB-4287-8D37-56C4D043EC4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AFC19-9B50-FC2F-4E52-C99089EF0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A4F90-3402-4C0F-8543-27E132936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CC84C-3B48-46D5-97FD-D6CAA5138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168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D2814-778C-6D32-FB52-9B9E995CB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EB0AD-3B52-C627-9866-679F39E455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2800DB-377F-E014-4653-CBF4E2DF1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695E34-D152-5F71-C08E-C0ACFD45C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0A8CC-36AB-4287-8D37-56C4D043EC4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06302-752E-5930-B533-CF70290D1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702E3-790C-B27D-5F23-788388AD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CC84C-3B48-46D5-97FD-D6CAA5138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550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9677E-5F30-78CF-0DB0-4FC2D1C2D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DB279-4C06-E236-6ACF-6F8AF1366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35486F-E595-69DE-82DE-BFCDFB19D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81AE71-0F45-8CC7-8B13-2AE871CA09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CB9E9B-C3C5-02D6-E039-252708BC1A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AE367C-1D98-4A9A-162E-C0EC3973D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0A8CC-36AB-4287-8D37-56C4D043EC4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CADD4A-E8FD-FDC4-9924-E27C483F1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5DC476-DD11-6F09-F5EC-0280C2D9D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CC84C-3B48-46D5-97FD-D6CAA5138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97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4C08B-D283-5A2F-C274-6B281FD89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9A5DA1-D463-19B9-5113-1A799EA97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0A8CC-36AB-4287-8D37-56C4D043EC4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E01E45-F88D-A8D8-9CCC-9FAEBCBE0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52C8B-2608-B2BC-AA4F-9D64DD6EF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CC84C-3B48-46D5-97FD-D6CAA5138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4207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B7BFDA-9B54-DAAA-5D7E-F3E0F9541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0A8CC-36AB-4287-8D37-56C4D043EC4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90B0E1-5A74-4467-36E5-B9B0D7DC8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A3333-3FCC-F41A-F773-A02125A86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CC84C-3B48-46D5-97FD-D6CAA5138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894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799C3-3CC0-7906-D169-DE0385B69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6DD19-BFB8-4672-1002-AB785712D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28A285-DFF6-CE24-DD61-FA68246A41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10AA9-958C-31F9-8E3C-CEF8D2E2D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0A8CC-36AB-4287-8D37-56C4D043EC4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28924D-00EC-4321-C206-0F4DEDC22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0A8B3-7643-EBB9-DEC9-79F16D06F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CC84C-3B48-46D5-97FD-D6CAA5138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043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08428-7C1D-C1BF-C212-DB57BE37A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3D2617-6704-78C0-FDBE-FE20796219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976A11-7640-255A-74C4-7490285EF8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DAD8D-1306-DDE0-54BF-64434461D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0A8CC-36AB-4287-8D37-56C4D043EC4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459B3C-F793-10DA-7C9D-985FA6D5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7BAF9-8433-8127-007B-614523C01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CC84C-3B48-46D5-97FD-D6CAA5138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360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51F60-DFAE-16B1-8589-0D4DED3E7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B9953E-467D-757D-0ECA-BACA4DCBE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C4FB3-E701-DC02-8E49-2E25178BC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0A8CC-36AB-4287-8D37-56C4D043EC4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4D192-BC13-A130-F781-2C3D6CF94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A9C9F-86AD-C6B2-FFE7-4E4FB9224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CC84C-3B48-46D5-97FD-D6CAA5138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508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A96360-E684-3CE5-B9D5-93D873D894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FE853A-6551-F472-75D4-84071A822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642B1-43CA-3B11-F4D9-9E12B0134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0A8CC-36AB-4287-8D37-56C4D043EC4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55559-E4DF-DBB9-14D4-98A9F70CE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BE7EB-D80A-9ACE-2566-BB3B09678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CC84C-3B48-46D5-97FD-D6CAA5138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834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155BC4-2F83-25B8-4C0B-361B89D8C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7CE9E-26A1-AAA7-80B1-F519D73B9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EB66B-4EC6-1597-BF6B-1C1F1F86CF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0A8CC-36AB-4287-8D37-56C4D043EC4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E9A1C-746F-10F8-9968-95543705D3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54D49-3A62-04D5-A92A-852B368E03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7CC84C-3B48-46D5-97FD-D6CAA5138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84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/>
        </p:nvSpPr>
        <p:spPr>
          <a:xfrm>
            <a:off x="395192" y="559250"/>
            <a:ext cx="11029616" cy="8362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NLP News Intelligence Anomaly radar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925370C-991D-6625-2AEA-48E74A26B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32" y="698986"/>
            <a:ext cx="11632176" cy="3901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BA02F95-7BBD-BFC5-F24B-D5A10C477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1458" y="4998559"/>
            <a:ext cx="2560542" cy="1859441"/>
          </a:xfrm>
          <a:prstGeom prst="rect">
            <a:avLst/>
          </a:prstGeom>
        </p:spPr>
      </p:pic>
      <p:sp>
        <p:nvSpPr>
          <p:cNvPr id="2" name="TextBox 4">
            <a:extLst>
              <a:ext uri="{FF2B5EF4-FFF2-40B4-BE49-F238E27FC236}">
                <a16:creationId xmlns:a16="http://schemas.microsoft.com/office/drawing/2014/main" id="{9C0A2E40-87C8-D86E-C8D5-47580350A35A}"/>
              </a:ext>
            </a:extLst>
          </p:cNvPr>
          <p:cNvSpPr txBox="1"/>
          <p:nvPr/>
        </p:nvSpPr>
        <p:spPr>
          <a:xfrm>
            <a:off x="669405" y="4969011"/>
            <a:ext cx="297836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Presenter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2400" b="1" dirty="0">
                <a:solidFill>
                  <a:srgbClr val="FF0000"/>
                </a:solidFill>
              </a:rPr>
            </a:b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Geetha Palanisamy</a:t>
            </a:r>
          </a:p>
          <a:p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MDTM46B</a:t>
            </a:r>
            <a:endParaRPr lang="en-IN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855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8317E4-4E73-CB76-D992-E56AE0886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11" y="0"/>
            <a:ext cx="11961389" cy="1310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64865B-5D06-1146-7864-662F037261D5}"/>
              </a:ext>
            </a:extLst>
          </p:cNvPr>
          <p:cNvSpPr txBox="1"/>
          <p:nvPr/>
        </p:nvSpPr>
        <p:spPr>
          <a:xfrm>
            <a:off x="2104103" y="235974"/>
            <a:ext cx="75905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OVERVIEW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DB70EB4-36B7-9F47-47DD-7CCCB4EA9FA5}"/>
              </a:ext>
            </a:extLst>
          </p:cNvPr>
          <p:cNvSpPr txBox="1">
            <a:spLocks/>
          </p:cNvSpPr>
          <p:nvPr/>
        </p:nvSpPr>
        <p:spPr>
          <a:xfrm>
            <a:off x="387119" y="1310754"/>
            <a:ext cx="11198943" cy="1123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GOAL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a platform to detect suspicious narratives, monitor trends, and assess brand risk from news articles.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provide analysts with early warning signals of disinformation and reputational exposure.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BF28D3-2ECF-A97D-3200-CC20F5F2A553}"/>
              </a:ext>
            </a:extLst>
          </p:cNvPr>
          <p:cNvSpPr txBox="1"/>
          <p:nvPr/>
        </p:nvSpPr>
        <p:spPr>
          <a:xfrm>
            <a:off x="573932" y="2884206"/>
            <a:ext cx="2354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 USED</a:t>
            </a:r>
            <a:endParaRPr lang="en-IN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F0EFA3-5460-BED5-322D-C708FA346534}"/>
              </a:ext>
            </a:extLst>
          </p:cNvPr>
          <p:cNvSpPr txBox="1"/>
          <p:nvPr/>
        </p:nvSpPr>
        <p:spPr>
          <a:xfrm>
            <a:off x="5781368" y="3485143"/>
            <a:ext cx="6410632" cy="2719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Project Structure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Step 1:</a:t>
            </a:r>
            <a:r>
              <a:rPr lang="en-IN" sz="15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Data ingestion → raw news dataset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Step 2:</a:t>
            </a:r>
            <a:r>
              <a:rPr lang="en-IN" sz="15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Preprocessing → cleaning text, normalizing locations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Step 3:</a:t>
            </a:r>
            <a:r>
              <a:rPr lang="en-IN" sz="15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Feature engineering → sentiment, topics, temporal signals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Step 4:</a:t>
            </a:r>
            <a:r>
              <a:rPr lang="en-IN" sz="15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Anomaly detection → linguistic, location, temporal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Step 5:</a:t>
            </a:r>
            <a:r>
              <a:rPr lang="en-IN" sz="15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Aggregation → article labels, brand risk scores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Step 6:</a:t>
            </a:r>
            <a:r>
              <a:rPr lang="en-IN" sz="15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Visualization → UMAP clusters, dashboards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Step 7:</a:t>
            </a:r>
            <a:r>
              <a:rPr lang="en-IN" sz="15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Deployment → </a:t>
            </a:r>
            <a:r>
              <a:rPr lang="en-IN" sz="15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IN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AWS</a:t>
            </a:r>
            <a:endParaRPr lang="en-IN" sz="150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796BAE-2AF5-F657-FCE5-65194AD56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08" y="3304192"/>
            <a:ext cx="4878372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909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E4ADB-458A-1581-8F50-28C1C582E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00B196-0BB1-3402-78A7-0F6580676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611" y="0"/>
            <a:ext cx="11961389" cy="13107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0014E8-1575-F4D0-E444-23FC7A7B354F}"/>
              </a:ext>
            </a:extLst>
          </p:cNvPr>
          <p:cNvSpPr txBox="1"/>
          <p:nvPr/>
        </p:nvSpPr>
        <p:spPr>
          <a:xfrm>
            <a:off x="1730477" y="738103"/>
            <a:ext cx="10914165" cy="1088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50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5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50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5D0FDE-7CAF-43FA-FC7E-5AF6FDACE8EB}"/>
              </a:ext>
            </a:extLst>
          </p:cNvPr>
          <p:cNvSpPr txBox="1"/>
          <p:nvPr/>
        </p:nvSpPr>
        <p:spPr>
          <a:xfrm>
            <a:off x="1730477" y="193712"/>
            <a:ext cx="75905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chose Unsupervised model?</a:t>
            </a:r>
            <a:endParaRPr lang="en-IN" sz="24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1CF7DF-6FC9-61F3-E656-6E8EA7F28AC4}"/>
              </a:ext>
            </a:extLst>
          </p:cNvPr>
          <p:cNvSpPr txBox="1"/>
          <p:nvPr/>
        </p:nvSpPr>
        <p:spPr>
          <a:xfrm>
            <a:off x="845574" y="1012723"/>
            <a:ext cx="105205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Unlike supervised detection that only recognize known patterns of fake news, unsupervised isolation forest can detect Zero-day disinformation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It overcomes label scarcity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Supervised models often struggle with extreme class imbalance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Reduced the need of constant model retraining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Supervised classifiers miss the mark on unknowns. Our NLP News Intelligence Radar uncovers hidden patterns with isolation forest and Z score thresholding staying ahead of evolving disinformation that rigid models ignore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FDEB09-FE41-1BE5-0D6C-5D543C6827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8904" y="3429000"/>
            <a:ext cx="6846401" cy="302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803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4F827-38EC-92D0-A626-F8238DA46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ABE091-C04E-CAB8-C0EC-5209CFFCD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11" y="0"/>
            <a:ext cx="11961389" cy="13107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7FA1CC-39D8-47F1-137D-B11B801B699E}"/>
              </a:ext>
            </a:extLst>
          </p:cNvPr>
          <p:cNvSpPr txBox="1"/>
          <p:nvPr/>
        </p:nvSpPr>
        <p:spPr>
          <a:xfrm>
            <a:off x="2222090" y="298065"/>
            <a:ext cx="75905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HANDLING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C597A1-28B6-E64C-1B21-4705036BDA8A}"/>
              </a:ext>
            </a:extLst>
          </p:cNvPr>
          <p:cNvSpPr txBox="1"/>
          <p:nvPr/>
        </p:nvSpPr>
        <p:spPr>
          <a:xfrm>
            <a:off x="1270594" y="1057794"/>
            <a:ext cx="9648129" cy="253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Cleaning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Removed URLs, punctuation, and special characters so the text is easier to analyze.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Converted everything to lowercase for consistency.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Removed common filler words (like “the”, “and”, “is”) that don’t add meaning.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Applied lemmatization: turning words into their base form (e.g., “running” → “run”).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Why: Clean text ensures that our models focus on meaning, not noise.</a:t>
            </a:r>
            <a:endParaRPr lang="en-IN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E8E59F-C877-CB3F-742B-70FA267737D2}"/>
              </a:ext>
            </a:extLst>
          </p:cNvPr>
          <p:cNvSpPr txBox="1"/>
          <p:nvPr/>
        </p:nvSpPr>
        <p:spPr>
          <a:xfrm>
            <a:off x="1270594" y="3809630"/>
            <a:ext cx="9881421" cy="2750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IN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Location Extraction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SpaCy</a:t>
            </a: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Named Entity Recognition (NER) is a pretrained model to detect entities like GPE (Geo‑Political Entity), LOC (location), and ORG. Example: “US oil prices slip below 50” → </a:t>
            </a:r>
            <a:r>
              <a:rPr lang="en-US" sz="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SpaCy</a:t>
            </a: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tags “US” as a GPE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GeoText</a:t>
            </a: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lightweight python library that scans text for city and country names. Example: “England football fans party in Lille” → </a:t>
            </a:r>
            <a:r>
              <a:rPr lang="en-US" sz="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GeoText</a:t>
            </a: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extracts “England” and “Lille”.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Normalization :After extraction, standardized names (e.g., “US”, “USA”, “United States” → “United States”) as Consistency is critical for anomaly detection — otherwise “US” vs “USA” would look like different places.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Data cleaning - Free electronics icons">
            <a:extLst>
              <a:ext uri="{FF2B5EF4-FFF2-40B4-BE49-F238E27FC236}">
                <a16:creationId xmlns:a16="http://schemas.microsoft.com/office/drawing/2014/main" id="{A4A631D0-DF65-90C6-9E6C-94A6ADD10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82" y="2068763"/>
            <a:ext cx="793000" cy="79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BBA735-B587-3325-EC1A-D8426BAE4D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575" y="4469836"/>
            <a:ext cx="852814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11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55B3F-CC1C-F1CD-9192-956F552C8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6B098D-CE5F-B012-4FC7-F40991F1C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11" y="0"/>
            <a:ext cx="11961389" cy="1310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476FAF-0E1E-89DC-7289-453AB1170885}"/>
              </a:ext>
            </a:extLst>
          </p:cNvPr>
          <p:cNvSpPr txBox="1"/>
          <p:nvPr/>
        </p:nvSpPr>
        <p:spPr>
          <a:xfrm>
            <a:off x="2015614" y="1123941"/>
            <a:ext cx="9389806" cy="2404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IN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Sentiment Analysis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VADER (Valence Aware Dictionary and </a:t>
            </a:r>
            <a:r>
              <a:rPr lang="en-US" sz="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sEntiment</a:t>
            </a: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Reasoner)  is a </a:t>
            </a:r>
            <a:r>
              <a:rPr lang="en-US" sz="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nltk</a:t>
            </a: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module used for sentiment analysis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Lexicon-based approach:</a:t>
            </a: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VADER has a dictionary of words with pre‑assigned sentiment scores (positive, negative, neutral). Example: “great” = +3.0, “terrible” = −3.0.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best Approach? </a:t>
            </a: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No training needed, Fast and light weight, Transparent and explainable even for short text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D49806-7828-3A71-2975-50630043BDCC}"/>
              </a:ext>
            </a:extLst>
          </p:cNvPr>
          <p:cNvSpPr txBox="1"/>
          <p:nvPr/>
        </p:nvSpPr>
        <p:spPr>
          <a:xfrm>
            <a:off x="1730477" y="193712"/>
            <a:ext cx="75905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ENGINEERING</a:t>
            </a:r>
          </a:p>
        </p:txBody>
      </p:sp>
      <p:pic>
        <p:nvPicPr>
          <p:cNvPr id="3074" name="Picture 2" descr="The Power of Sentiment Analysis: A Deep Dive into NLP Methods">
            <a:extLst>
              <a:ext uri="{FF2B5EF4-FFF2-40B4-BE49-F238E27FC236}">
                <a16:creationId xmlns:a16="http://schemas.microsoft.com/office/drawing/2014/main" id="{9F7D488D-47A2-153F-B2F1-C55BBE97B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048" y="1710791"/>
            <a:ext cx="13068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5FF707-9F06-498C-8125-88243230C804}"/>
              </a:ext>
            </a:extLst>
          </p:cNvPr>
          <p:cNvSpPr txBox="1"/>
          <p:nvPr/>
        </p:nvSpPr>
        <p:spPr>
          <a:xfrm>
            <a:off x="2015614" y="3996561"/>
            <a:ext cx="9389806" cy="143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Temporal Features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Extracted </a:t>
            </a:r>
            <a:r>
              <a:rPr lang="en-US" sz="15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year, month, and weekday</a:t>
            </a:r>
            <a:r>
              <a:rPr lang="en-US" sz="15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from the article date.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Counted how many articles appeared per day.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Why:</a:t>
            </a:r>
            <a:r>
              <a:rPr lang="en-US" sz="15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Sudden spikes in volume often indicate coordinated campaigns</a:t>
            </a:r>
            <a:r>
              <a:rPr lang="en-US" dirty="0">
                <a:solidFill>
                  <a:schemeClr val="bg1"/>
                </a:solidFill>
                <a:effectLst/>
              </a:rPr>
              <a:t>.</a:t>
            </a:r>
          </a:p>
        </p:txBody>
      </p:sp>
      <p:pic>
        <p:nvPicPr>
          <p:cNvPr id="3076" name="Picture 4" descr="TIME and DATE Quiz">
            <a:extLst>
              <a:ext uri="{FF2B5EF4-FFF2-40B4-BE49-F238E27FC236}">
                <a16:creationId xmlns:a16="http://schemas.microsoft.com/office/drawing/2014/main" id="{99E85AE4-6E36-7F47-872B-76DEE8F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48" y="4227871"/>
            <a:ext cx="1056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9801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D4941-C701-D561-016A-B4E7407E7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2EB64D-290D-6828-02E0-0C4D4389C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11" y="-9832"/>
            <a:ext cx="11961389" cy="1310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9F84B1-9104-CDFB-4F35-2CEA31965C34}"/>
              </a:ext>
            </a:extLst>
          </p:cNvPr>
          <p:cNvSpPr txBox="1"/>
          <p:nvPr/>
        </p:nvSpPr>
        <p:spPr>
          <a:xfrm>
            <a:off x="1401097" y="1005954"/>
            <a:ext cx="9389806" cy="2790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IN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Extraction – </a:t>
            </a:r>
            <a:r>
              <a:rPr lang="en-IN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BERTopic</a:t>
            </a:r>
            <a:endParaRPr lang="en-IN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Why?- capture meaning not just frequency like LDA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IN" sz="1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IN" sz="1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Steps involved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IN" sz="1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IN" sz="1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IN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F2B772-1D8D-7653-2E49-688AB45B3289}"/>
              </a:ext>
            </a:extLst>
          </p:cNvPr>
          <p:cNvSpPr txBox="1"/>
          <p:nvPr/>
        </p:nvSpPr>
        <p:spPr>
          <a:xfrm>
            <a:off x="1730477" y="193712"/>
            <a:ext cx="75905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ENGINEERING</a:t>
            </a:r>
          </a:p>
        </p:txBody>
      </p:sp>
      <p:pic>
        <p:nvPicPr>
          <p:cNvPr id="8" name="Picture 2" descr="List of research topics, Top 10 research topics - IJSRET">
            <a:extLst>
              <a:ext uri="{FF2B5EF4-FFF2-40B4-BE49-F238E27FC236}">
                <a16:creationId xmlns:a16="http://schemas.microsoft.com/office/drawing/2014/main" id="{A763E9B7-4346-8BD9-D626-C32B990B28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263" y="1424601"/>
            <a:ext cx="83985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0EE630-9183-2A66-5917-6535B31E2C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7774" y="1743360"/>
            <a:ext cx="7052406" cy="20531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0931643-40BA-FE5D-68EC-E6B323B74A56}"/>
              </a:ext>
            </a:extLst>
          </p:cNvPr>
          <p:cNvSpPr txBox="1"/>
          <p:nvPr/>
        </p:nvSpPr>
        <p:spPr>
          <a:xfrm>
            <a:off x="283263" y="3973232"/>
            <a:ext cx="11476117" cy="3068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Sentence transformer read each document and output a vectors of numbers called an embedding (through semantic analysis-similar meaning)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This vector captures meaning of text in a high dimensional space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UMAP takes this high dimensional embeddings and compress them into a small vector(2/5D) , but groups similar text close, dissimilar texts far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Now </a:t>
            </a:r>
            <a:r>
              <a:rPr lang="en-IN" sz="13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BERTopic</a:t>
            </a:r>
            <a:r>
              <a:rPr lang="en-IN" sz="1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via DBSCAN, clusters these reduced vectors as 0,1,2…until this step there is no text label, all words are  in semantic encoding(</a:t>
            </a:r>
            <a:r>
              <a:rPr lang="en-IN" sz="13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i.e.numbers</a:t>
            </a:r>
            <a:r>
              <a:rPr lang="en-IN" sz="1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Now, </a:t>
            </a:r>
            <a:r>
              <a:rPr lang="en-IN" sz="13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BERTopic</a:t>
            </a:r>
            <a:r>
              <a:rPr lang="en-IN" sz="1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takes the original text of that cluster and merge them into single document and run its c-TF-IDF to find the most representative words for that cluster (number to words form)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Top scoring words in that cluster (</a:t>
            </a:r>
            <a:r>
              <a:rPr lang="en-IN" sz="13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e.g:refund</a:t>
            </a:r>
            <a:r>
              <a:rPr lang="en-IN" sz="1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en-IN" sz="13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delay,shipment</a:t>
            </a:r>
            <a:r>
              <a:rPr lang="en-IN" sz="1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 are selected as keywords of that topic 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After seeing these keywords of a cluster human gives short topic name</a:t>
            </a:r>
          </a:p>
          <a:p>
            <a:pPr>
              <a:lnSpc>
                <a:spcPct val="125000"/>
              </a:lnSpc>
            </a:pPr>
            <a:endParaRPr lang="en-IN" sz="13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663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74257-F8C4-B2F1-1AF3-BCF018221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FC4E68-3A1A-CD79-954C-64288071E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11" y="0"/>
            <a:ext cx="11961389" cy="13107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91DDB1-60FD-4044-FED4-903446F9F7BA}"/>
              </a:ext>
            </a:extLst>
          </p:cNvPr>
          <p:cNvSpPr txBox="1"/>
          <p:nvPr/>
        </p:nvSpPr>
        <p:spPr>
          <a:xfrm>
            <a:off x="1411433" y="1170943"/>
            <a:ext cx="10780567" cy="683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Temporal Anomaly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  <a:effectLst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temporal anomaly detection</a:t>
            </a: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5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rolling mean + rolling standard deviation with z‑score thresholding</a:t>
            </a:r>
            <a:r>
              <a:rPr lang="en-US" sz="15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Rolling mean/std:</a:t>
            </a:r>
            <a:r>
              <a:rPr lang="en-US" sz="15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Calculates the average and variability of article counts over a moving window (e.g., 7 days).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Z‑score:</a:t>
            </a:r>
            <a:r>
              <a:rPr lang="en-US" sz="15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Measures how far today’s article count deviates from the rolling average in terms of standard deviations.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Threshold:</a:t>
            </a:r>
            <a:r>
              <a:rPr lang="en-US" sz="15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If the z‑score exceeds a set value (e.g., &gt;2), it’s flagged as a temporal anomaly.</a:t>
            </a:r>
          </a:p>
          <a:p>
            <a:pPr>
              <a:lnSpc>
                <a:spcPct val="150000"/>
              </a:lnSpc>
            </a:pPr>
            <a:endParaRPr lang="en-US" sz="150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FBC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temporal features matter?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Disinformation campaigns often spike suddenly</a:t>
            </a: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— many articles appear in a short time to push a narrative.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 news cycles are smoother</a:t>
            </a: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— gradual coverage over time.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Temporal anomalies highlight coordination</a:t>
            </a: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— e.g., 50 articles about the same protest appearing overnight.</a:t>
            </a:r>
          </a:p>
          <a:p>
            <a:pPr>
              <a:lnSpc>
                <a:spcPct val="150000"/>
              </a:lnSpc>
            </a:pPr>
            <a:endParaRPr lang="en-US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🔄 </a:t>
            </a:r>
            <a:r>
              <a:rPr lang="en-US" sz="1500" dirty="0">
                <a:solidFill>
                  <a:srgbClr val="8FBC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Alternatives you could have used: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ARIMA / Prophet (time series forecasting):</a:t>
            </a: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Predict expected counts, flag deviations. More complex, less transparent.</a:t>
            </a:r>
          </a:p>
          <a:p>
            <a:pPr>
              <a:lnSpc>
                <a:spcPct val="150000"/>
              </a:lnSpc>
            </a:pPr>
            <a:endParaRPr lang="en-US" sz="1500" b="1" dirty="0">
              <a:solidFill>
                <a:srgbClr val="8FBC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50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19ED3A-882D-DF98-0FF9-13882F3A7C9B}"/>
              </a:ext>
            </a:extLst>
          </p:cNvPr>
          <p:cNvSpPr txBox="1"/>
          <p:nvPr/>
        </p:nvSpPr>
        <p:spPr>
          <a:xfrm>
            <a:off x="1730477" y="193712"/>
            <a:ext cx="75905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ANOMALY DETECTION</a:t>
            </a:r>
          </a:p>
        </p:txBody>
      </p:sp>
      <p:pic>
        <p:nvPicPr>
          <p:cNvPr id="4098" name="Picture 2" descr="Intro to anomaly detection with OpenCV, Computer Vision, and scikit-learn -  PyImageSearch">
            <a:extLst>
              <a:ext uri="{FF2B5EF4-FFF2-40B4-BE49-F238E27FC236}">
                <a16:creationId xmlns:a16="http://schemas.microsoft.com/office/drawing/2014/main" id="{DD5D4EA9-64F7-E47B-B5C3-63C88A3C21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13676"/>
            <a:ext cx="1290465" cy="96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3349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6EFB3-8941-E741-AA1F-95A4D7159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80C914-5D14-392A-37BA-EAB1AA3FF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11" y="0"/>
            <a:ext cx="11961389" cy="13107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8A55DA-63B5-15F4-0B51-5AEFB413B264}"/>
              </a:ext>
            </a:extLst>
          </p:cNvPr>
          <p:cNvSpPr txBox="1"/>
          <p:nvPr/>
        </p:nvSpPr>
        <p:spPr>
          <a:xfrm>
            <a:off x="1047224" y="849089"/>
            <a:ext cx="10914165" cy="7874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Linguistic Anomaly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Isolation Forest</a:t>
            </a:r>
            <a:r>
              <a:rPr lang="en-US" sz="1600" dirty="0">
                <a:solidFill>
                  <a:schemeClr val="bg1"/>
                </a:solidFill>
              </a:rPr>
              <a:t> is an unsupervised machine-learning algorithm based on the idea that anomalies are </a:t>
            </a:r>
            <a:r>
              <a:rPr lang="en-US" sz="1600" b="1" dirty="0">
                <a:solidFill>
                  <a:schemeClr val="bg1"/>
                </a:solidFill>
              </a:rPr>
              <a:t>rare and different</a:t>
            </a:r>
            <a:r>
              <a:rPr lang="en-US" sz="1600" dirty="0">
                <a:solidFill>
                  <a:schemeClr val="bg1"/>
                </a:solidFill>
              </a:rPr>
              <a:t> from normal data points</a:t>
            </a:r>
            <a:r>
              <a:rPr lang="en-US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Features: </a:t>
            </a: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length, tone, and topic meaning.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Mechanism:</a:t>
            </a:r>
            <a:endParaRPr lang="en-IN" sz="1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Step 1 — Represent each article: Every article is converted into a profile using these features.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Step 2 — Build random trees: The algorithm creates many random decision trees that split articles based on    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these features.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Step 3 — Isolation principle:</a:t>
            </a:r>
          </a:p>
          <a:p>
            <a:pPr marL="0" lvl="1">
              <a:lnSpc>
                <a:spcPct val="150000"/>
              </a:lnSpc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Articles that resemble most others require many splits before they can be separated.</a:t>
            </a:r>
          </a:p>
          <a:p>
            <a:pPr marL="0" lvl="1">
              <a:lnSpc>
                <a:spcPct val="150000"/>
              </a:lnSpc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Articles that differ clearly are isolated quickly in fewer splits.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Step 4 — Anomaly scoring: Articles that are consistently isolated faster across many trees receive higher anomaly  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scores. These are flagged as potential anomalies.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FBC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isolation forest?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does not require labeled data to train.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explicitly targets anomalies rather than profiling normal points.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/>
            </a:endParaRPr>
          </a:p>
          <a:p>
            <a:pPr>
              <a:lnSpc>
                <a:spcPct val="150000"/>
              </a:lnSpc>
            </a:pPr>
            <a:endParaRPr lang="en-US" sz="1500" b="1" dirty="0">
              <a:solidFill>
                <a:srgbClr val="8FBC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5A4854-7D6C-827A-F451-CFF98C7E97A6}"/>
              </a:ext>
            </a:extLst>
          </p:cNvPr>
          <p:cNvSpPr txBox="1"/>
          <p:nvPr/>
        </p:nvSpPr>
        <p:spPr>
          <a:xfrm>
            <a:off x="1730477" y="193712"/>
            <a:ext cx="75905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ANOMALY DETECTION</a:t>
            </a:r>
          </a:p>
        </p:txBody>
      </p:sp>
      <p:pic>
        <p:nvPicPr>
          <p:cNvPr id="6146" name="Picture 2" descr="Find the Length of Text – Online Text Tools">
            <a:extLst>
              <a:ext uri="{FF2B5EF4-FFF2-40B4-BE49-F238E27FC236}">
                <a16:creationId xmlns:a16="http://schemas.microsoft.com/office/drawing/2014/main" id="{A45A9FAC-9422-4BF0-9C69-2574B97BF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93" y="2958334"/>
            <a:ext cx="962731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0030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49690-E59F-7796-987E-E83F5D337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27FF7B7-1635-CCD9-A427-D931AF360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611" y="0"/>
            <a:ext cx="11961389" cy="13107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D8A0FF-6A87-C90B-447A-FEEDC9F9397E}"/>
              </a:ext>
            </a:extLst>
          </p:cNvPr>
          <p:cNvSpPr txBox="1"/>
          <p:nvPr/>
        </p:nvSpPr>
        <p:spPr>
          <a:xfrm>
            <a:off x="816613" y="849089"/>
            <a:ext cx="10914165" cy="6766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Location Anomaly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bg1"/>
                </a:solidFill>
              </a:rPr>
              <a:t>en_core_web_sm</a:t>
            </a:r>
            <a:r>
              <a:rPr lang="en-US" sz="1600" b="1" dirty="0">
                <a:solidFill>
                  <a:schemeClr val="bg1"/>
                </a:solidFill>
              </a:rPr>
              <a:t>, a pre-trained English language model provided by the </a:t>
            </a:r>
            <a:r>
              <a:rPr lang="en-US" sz="1600" b="1" dirty="0" err="1">
                <a:solidFill>
                  <a:schemeClr val="bg1"/>
                </a:solidFill>
              </a:rPr>
              <a:t>SpaCy</a:t>
            </a:r>
            <a:r>
              <a:rPr lang="en-US" sz="1600" b="1" dirty="0">
                <a:solidFill>
                  <a:schemeClr val="bg1"/>
                </a:solidFill>
              </a:rPr>
              <a:t> library, and it is used to perform Named Entity Recognition (NER)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Rule‑based comparison:</a:t>
            </a:r>
            <a:r>
              <a:rPr lang="en-US" sz="1600" dirty="0">
                <a:solidFill>
                  <a:schemeClr val="bg1"/>
                </a:solidFill>
              </a:rPr>
              <a:t> Simple string/semantic match between headline location and body location.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Binary anomaly flag:</a:t>
            </a:r>
            <a:r>
              <a:rPr lang="en-US" sz="1600" dirty="0">
                <a:solidFill>
                  <a:schemeClr val="bg1"/>
                </a:solidFill>
              </a:rPr>
              <a:t> 0 = normal, 1 = anomaly.</a:t>
            </a:r>
            <a:endParaRPr lang="en-US" sz="1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Why location anomaly matters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Disinformation tactic:</a:t>
            </a:r>
            <a:r>
              <a:rPr lang="en-US" dirty="0">
                <a:solidFill>
                  <a:schemeClr val="bg1"/>
                </a:solidFill>
              </a:rPr>
              <a:t> Fake stories often recycle content but swap locations to mislead readers.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Explainability:</a:t>
            </a:r>
            <a:r>
              <a:rPr lang="en-US" dirty="0">
                <a:solidFill>
                  <a:schemeClr val="bg1"/>
                </a:solidFill>
              </a:rPr>
              <a:t> Easy for analysts to verify — “Headline says London, body says Paris.”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Transparency:</a:t>
            </a:r>
            <a:r>
              <a:rPr lang="en-US" dirty="0">
                <a:solidFill>
                  <a:schemeClr val="bg1"/>
                </a:solidFill>
              </a:rPr>
              <a:t> Non‑technical clients can immediately understand why it’s flagged.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Business relevance:</a:t>
            </a:r>
            <a:r>
              <a:rPr lang="en-US" dirty="0">
                <a:solidFill>
                  <a:schemeClr val="bg1"/>
                </a:solidFill>
              </a:rPr>
              <a:t> Location mismatches can damage trust in reporting and mislead audiences about where events occur.</a:t>
            </a:r>
          </a:p>
          <a:p>
            <a:endParaRPr lang="en-US" dirty="0">
              <a:solidFill>
                <a:schemeClr val="bg1"/>
              </a:solidFill>
              <a:effectLst/>
            </a:endParaRPr>
          </a:p>
          <a:p>
            <a:pPr>
              <a:lnSpc>
                <a:spcPct val="150000"/>
              </a:lnSpc>
            </a:pPr>
            <a:endParaRPr lang="en-US" sz="1500" b="1" dirty="0">
              <a:solidFill>
                <a:srgbClr val="8FBC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4D80C6-840D-00D6-DECD-2E47F7DB23AE}"/>
              </a:ext>
            </a:extLst>
          </p:cNvPr>
          <p:cNvSpPr txBox="1"/>
          <p:nvPr/>
        </p:nvSpPr>
        <p:spPr>
          <a:xfrm>
            <a:off x="1730477" y="193712"/>
            <a:ext cx="75905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ANOMALY DETECTION</a:t>
            </a:r>
          </a:p>
        </p:txBody>
      </p:sp>
      <p:pic>
        <p:nvPicPr>
          <p:cNvPr id="2052" name="Picture 4" descr="Wrong way - Free maps and location icons">
            <a:extLst>
              <a:ext uri="{FF2B5EF4-FFF2-40B4-BE49-F238E27FC236}">
                <a16:creationId xmlns:a16="http://schemas.microsoft.com/office/drawing/2014/main" id="{234219E5-A720-45AA-6250-6661BE162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13" y="3033000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9485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6A657-C145-0E8C-9F82-39162729E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CF4917-1285-C13C-8187-73B095757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611" y="0"/>
            <a:ext cx="11961389" cy="13107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394164-0102-FF48-3EB5-5478726BBBC0}"/>
              </a:ext>
            </a:extLst>
          </p:cNvPr>
          <p:cNvSpPr txBox="1"/>
          <p:nvPr/>
        </p:nvSpPr>
        <p:spPr>
          <a:xfrm>
            <a:off x="1730477" y="738103"/>
            <a:ext cx="10914165" cy="1088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50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5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50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9ACB1D-3DE1-071C-3C3C-73685318050A}"/>
              </a:ext>
            </a:extLst>
          </p:cNvPr>
          <p:cNvSpPr txBox="1"/>
          <p:nvPr/>
        </p:nvSpPr>
        <p:spPr>
          <a:xfrm>
            <a:off x="1730477" y="193712"/>
            <a:ext cx="75905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F365AC-CA83-373E-2990-801511E786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5492" y="854202"/>
            <a:ext cx="5814564" cy="28348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ECB8BDD-4B80-E4C5-E285-0B872073AA5C}"/>
              </a:ext>
            </a:extLst>
          </p:cNvPr>
          <p:cNvSpPr txBox="1"/>
          <p:nvPr/>
        </p:nvSpPr>
        <p:spPr>
          <a:xfrm>
            <a:off x="417872" y="2086979"/>
            <a:ext cx="1450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Label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38D664-FB03-A70A-B5F4-83D10E49CB27}"/>
              </a:ext>
            </a:extLst>
          </p:cNvPr>
          <p:cNvSpPr txBox="1"/>
          <p:nvPr/>
        </p:nvSpPr>
        <p:spPr>
          <a:xfrm>
            <a:off x="8492047" y="1532981"/>
            <a:ext cx="2900516" cy="1780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Transparent and easy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Provides clear visibility to specific triggers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13E310-9902-C40C-B372-28E9469B912B}"/>
              </a:ext>
            </a:extLst>
          </p:cNvPr>
          <p:cNvSpPr txBox="1"/>
          <p:nvPr/>
        </p:nvSpPr>
        <p:spPr>
          <a:xfrm>
            <a:off x="417872" y="4938478"/>
            <a:ext cx="14502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Brand Risk Score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5F89C9B-625A-8DA2-82F4-267A125D92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5492" y="4100788"/>
            <a:ext cx="3619814" cy="265199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1D8FC04-83EE-2C56-F33C-60291E419CBD}"/>
              </a:ext>
            </a:extLst>
          </p:cNvPr>
          <p:cNvSpPr txBox="1"/>
          <p:nvPr/>
        </p:nvSpPr>
        <p:spPr>
          <a:xfrm>
            <a:off x="6939280" y="4384480"/>
            <a:ext cx="4653280" cy="212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0.35 : Unusual wording is often the clearest sign of manipulation.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0.25 : Location mismatches and negative sentiment are equally important — they directly affect trust and reputation.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0.15 :  volume alone doesn’t always mean risk.</a:t>
            </a:r>
            <a:endParaRPr lang="en-IN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675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E4BD3-FC1B-A653-7CF9-287B3A899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3B248A-4675-3935-319A-3AF834309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611" y="0"/>
            <a:ext cx="11961389" cy="13107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1141B8-145C-CC8B-B695-E378ECF77A80}"/>
              </a:ext>
            </a:extLst>
          </p:cNvPr>
          <p:cNvSpPr txBox="1"/>
          <p:nvPr/>
        </p:nvSpPr>
        <p:spPr>
          <a:xfrm>
            <a:off x="1730477" y="655377"/>
            <a:ext cx="10914165" cy="1088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50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5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50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7A3275-E53D-D26A-FDDA-00320ACD8409}"/>
              </a:ext>
            </a:extLst>
          </p:cNvPr>
          <p:cNvSpPr txBox="1"/>
          <p:nvPr/>
        </p:nvSpPr>
        <p:spPr>
          <a:xfrm>
            <a:off x="1730477" y="193712"/>
            <a:ext cx="75905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IN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VALUATION METRICS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6D921C-08F5-13AB-3C94-2B4E4F230EF9}"/>
              </a:ext>
            </a:extLst>
          </p:cNvPr>
          <p:cNvSpPr txBox="1"/>
          <p:nvPr/>
        </p:nvSpPr>
        <p:spPr>
          <a:xfrm>
            <a:off x="732504" y="845067"/>
            <a:ext cx="50881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Well Does Our Risk Detection Work?</a:t>
            </a:r>
            <a:endParaRPr lang="en-IN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1122FD-4C86-D876-C05A-C49196BE0621}"/>
              </a:ext>
            </a:extLst>
          </p:cNvPr>
          <p:cNvSpPr txBox="1"/>
          <p:nvPr/>
        </p:nvSpPr>
        <p:spPr>
          <a:xfrm>
            <a:off x="926690" y="5360092"/>
            <a:ext cx="10338619" cy="1275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Takeaway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not a bulk detection tool — it is a decision-support system. </a:t>
            </a: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delivers </a:t>
            </a: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accurate, explainable, and actionable alerts</a:t>
            </a: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enabling faster and more confident human review.</a:t>
            </a:r>
          </a:p>
          <a:p>
            <a:pPr>
              <a:lnSpc>
                <a:spcPct val="125000"/>
              </a:lnSpc>
            </a:pPr>
            <a:endParaRPr lang="en-US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78E44E0-4AE7-2B87-8FAB-D2B64D5B30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030515"/>
              </p:ext>
            </p:extLst>
          </p:nvPr>
        </p:nvGraphicFramePr>
        <p:xfrm>
          <a:off x="1514168" y="1479663"/>
          <a:ext cx="8947355" cy="3634650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  <a:tableStyleId>{8FD4443E-F989-4FC4-A0C8-D5A2AF1F390B}</a:tableStyleId>
              </a:tblPr>
              <a:tblGrid>
                <a:gridCol w="1820383">
                  <a:extLst>
                    <a:ext uri="{9D8B030D-6E8A-4147-A177-3AD203B41FA5}">
                      <a16:colId xmlns:a16="http://schemas.microsoft.com/office/drawing/2014/main" val="1524904619"/>
                    </a:ext>
                  </a:extLst>
                </a:gridCol>
                <a:gridCol w="738457">
                  <a:extLst>
                    <a:ext uri="{9D8B030D-6E8A-4147-A177-3AD203B41FA5}">
                      <a16:colId xmlns:a16="http://schemas.microsoft.com/office/drawing/2014/main" val="480563292"/>
                    </a:ext>
                  </a:extLst>
                </a:gridCol>
                <a:gridCol w="2816442">
                  <a:extLst>
                    <a:ext uri="{9D8B030D-6E8A-4147-A177-3AD203B41FA5}">
                      <a16:colId xmlns:a16="http://schemas.microsoft.com/office/drawing/2014/main" val="765020885"/>
                    </a:ext>
                  </a:extLst>
                </a:gridCol>
                <a:gridCol w="3572073">
                  <a:extLst>
                    <a:ext uri="{9D8B030D-6E8A-4147-A177-3AD203B41FA5}">
                      <a16:colId xmlns:a16="http://schemas.microsoft.com/office/drawing/2014/main" val="4159267631"/>
                    </a:ext>
                  </a:extLst>
                </a:gridCol>
              </a:tblGrid>
              <a:tr h="24709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5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Metric</a:t>
                      </a:r>
                      <a:endParaRPr lang="en-IN" sz="15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B0C3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5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Score</a:t>
                      </a:r>
                      <a:endParaRPr lang="en-IN" sz="15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B0C3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5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Key Takeaway</a:t>
                      </a:r>
                      <a:endParaRPr lang="en-IN" sz="15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B0C3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5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Insight</a:t>
                      </a:r>
                      <a:endParaRPr lang="en-IN" sz="15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B0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481825"/>
                  </a:ext>
                </a:extLst>
              </a:tr>
              <a:tr h="72533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5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ROC_AUC</a:t>
                      </a:r>
                      <a:endParaRPr lang="en-IN" sz="15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B0C3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5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IN" sz="15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B0C3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5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Perfect Discrimination</a:t>
                      </a:r>
                      <a:endParaRPr lang="en-IN" sz="15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B0C3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5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Our model perfectly distinguishes between suspicious and normal articles.</a:t>
                      </a:r>
                      <a:endParaRPr lang="en-US" sz="15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B0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690076"/>
                  </a:ext>
                </a:extLst>
              </a:tr>
              <a:tr h="72533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5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PR_AUC</a:t>
                      </a:r>
                      <a:endParaRPr lang="en-IN" sz="15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B0C3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5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IN" sz="15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B0C3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500" b="0" u="none" strike="noStrike">
                          <a:solidFill>
                            <a:schemeClr val="tx1"/>
                          </a:solidFill>
                          <a:effectLst/>
                        </a:rPr>
                        <a:t>High Precision Balance</a:t>
                      </a:r>
                      <a:endParaRPr lang="en-IN" sz="15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B0C3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5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Even when risky articles are rare, we detect them with maximum confidence.</a:t>
                      </a:r>
                      <a:endParaRPr lang="en-US" sz="15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B0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766334"/>
                  </a:ext>
                </a:extLst>
              </a:tr>
              <a:tr h="72533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500" b="0" u="none" strike="noStrike">
                          <a:solidFill>
                            <a:schemeClr val="tx1"/>
                          </a:solidFill>
                          <a:effectLst/>
                        </a:rPr>
                        <a:t>Precision</a:t>
                      </a:r>
                      <a:endParaRPr lang="en-IN" sz="15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B0C3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500" b="0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IN" sz="15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B0C3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500" b="0" u="none" strike="noStrike">
                          <a:solidFill>
                            <a:schemeClr val="tx1"/>
                          </a:solidFill>
                          <a:effectLst/>
                        </a:rPr>
                        <a:t>Zero False Alarms</a:t>
                      </a:r>
                      <a:endParaRPr lang="en-IN" sz="15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B0C3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5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100% of flagged articles are truly risky; no time is wasted on false positives.</a:t>
                      </a:r>
                      <a:endParaRPr lang="en-US" sz="15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B0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571554"/>
                  </a:ext>
                </a:extLst>
              </a:tr>
              <a:tr h="48621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5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F1 Score</a:t>
                      </a:r>
                      <a:endParaRPr lang="en-IN" sz="15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B0C3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500" b="0" u="none" strike="noStrike">
                          <a:solidFill>
                            <a:schemeClr val="tx1"/>
                          </a:solidFill>
                          <a:effectLst/>
                        </a:rPr>
                        <a:t>0.06</a:t>
                      </a:r>
                      <a:endParaRPr lang="en-IN" sz="15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B0C3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5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Precision-Heavy</a:t>
                      </a:r>
                      <a:endParaRPr lang="en-IN" sz="15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B0C3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5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We currently prioritize extreme accuracy over total volume.</a:t>
                      </a:r>
                      <a:endParaRPr lang="en-US" sz="15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B0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3720"/>
                  </a:ext>
                </a:extLst>
              </a:tr>
              <a:tr h="72533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5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Recall@200</a:t>
                      </a:r>
                      <a:endParaRPr lang="en-IN" sz="15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B0C3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5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24%</a:t>
                      </a:r>
                      <a:endParaRPr lang="en-IN" sz="15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B0C3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5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Targeted Review</a:t>
                      </a:r>
                      <a:endParaRPr lang="en-IN" sz="15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B0C3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5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Reviewing the top 200 articles catches nearly a quarter of all known risks.</a:t>
                      </a:r>
                      <a:endParaRPr lang="en-US" sz="15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B0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926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0647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339EF-30D6-00B7-0F19-22867F9C5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A2D732-E078-56D3-3CCF-109345643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611" y="0"/>
            <a:ext cx="11961389" cy="13107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44CA3F-B6F8-12BC-08D2-E8E27D2B399F}"/>
              </a:ext>
            </a:extLst>
          </p:cNvPr>
          <p:cNvSpPr txBox="1"/>
          <p:nvPr/>
        </p:nvSpPr>
        <p:spPr>
          <a:xfrm>
            <a:off x="1730477" y="738103"/>
            <a:ext cx="10914165" cy="1088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50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5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50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B4E001-52D5-B75B-18C0-63D46A3F28DD}"/>
              </a:ext>
            </a:extLst>
          </p:cNvPr>
          <p:cNvSpPr txBox="1"/>
          <p:nvPr/>
        </p:nvSpPr>
        <p:spPr>
          <a:xfrm>
            <a:off x="1730477" y="193712"/>
            <a:ext cx="75905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Visualization – Tab1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FB8958-93F3-EA84-2B73-552F0FBE8A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8700" y="1304517"/>
            <a:ext cx="5804945" cy="252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A04657-7AFC-7F97-E2C5-7FC64A0A97C9}"/>
              </a:ext>
            </a:extLst>
          </p:cNvPr>
          <p:cNvSpPr txBox="1"/>
          <p:nvPr/>
        </p:nvSpPr>
        <p:spPr>
          <a:xfrm>
            <a:off x="1005348" y="941422"/>
            <a:ext cx="40441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Disinformation Detection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EC68EC-7C84-8E2B-B6CA-573EED9747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610" y="4036623"/>
            <a:ext cx="6032722" cy="22417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1A4939-5A79-A2CC-2220-65FD0C0A27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610" y="1310755"/>
            <a:ext cx="6032722" cy="252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093FAA5-54CE-6717-70C1-08612928CA1B}"/>
              </a:ext>
            </a:extLst>
          </p:cNvPr>
          <p:cNvSpPr txBox="1"/>
          <p:nvPr/>
        </p:nvSpPr>
        <p:spPr>
          <a:xfrm>
            <a:off x="6358700" y="4277360"/>
            <a:ext cx="5602690" cy="2083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IN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Inference: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Similar articles with elevated risk are potentially coordinated narratives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 story, different places is classic sign of recycled or misleading content.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Dense areas indicate strong narrative repetition; sparse areas are unique or outlier stories.</a:t>
            </a:r>
            <a:endParaRPr lang="en-IN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581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679FB-17C8-36FE-2F03-4A3088FFA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5FB2FF0-CEC4-DFB2-E7EB-01B8C7026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935" y="-203835"/>
            <a:ext cx="11961389" cy="13107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4C17BA-AE11-27EE-7E00-31BE1C6BBF78}"/>
              </a:ext>
            </a:extLst>
          </p:cNvPr>
          <p:cNvSpPr txBox="1"/>
          <p:nvPr/>
        </p:nvSpPr>
        <p:spPr>
          <a:xfrm>
            <a:off x="1730476" y="676176"/>
            <a:ext cx="10914165" cy="1088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50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5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50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CA9A6C-5491-759B-274F-73E90951D263}"/>
              </a:ext>
            </a:extLst>
          </p:cNvPr>
          <p:cNvSpPr txBox="1"/>
          <p:nvPr/>
        </p:nvSpPr>
        <p:spPr>
          <a:xfrm>
            <a:off x="1730477" y="193712"/>
            <a:ext cx="75905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Visualization-Tab2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649CFE-289C-A0D0-1CF2-9CA35612E547}"/>
              </a:ext>
            </a:extLst>
          </p:cNvPr>
          <p:cNvSpPr txBox="1"/>
          <p:nvPr/>
        </p:nvSpPr>
        <p:spPr>
          <a:xfrm>
            <a:off x="844592" y="922253"/>
            <a:ext cx="5109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Hyperlocal Trend monitoring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8BEF9A-75AD-97D4-40E3-A6EB8EEA40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58903"/>
            <a:ext cx="8249920" cy="23437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FFD7399-6D53-CA01-6D44-A205FD68C2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094777"/>
            <a:ext cx="8249920" cy="251234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E7514CB-1FAE-9B74-ADB7-19E04561FE0E}"/>
              </a:ext>
            </a:extLst>
          </p:cNvPr>
          <p:cNvSpPr txBox="1"/>
          <p:nvPr/>
        </p:nvSpPr>
        <p:spPr>
          <a:xfrm>
            <a:off x="8473440" y="1558903"/>
            <a:ext cx="3312160" cy="2573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Sentiment trends:</a:t>
            </a:r>
            <a:endParaRPr lang="en-US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negativity spikes in certain years, it may signal crises, manipulation, or coordinated campaigns.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positivity rises, it may reflect recovery or positive narratives.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Neutral coverage shows stability.</a:t>
            </a:r>
          </a:p>
          <a:p>
            <a:endParaRPr lang="en-IN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016E10-6D0D-797B-124D-F1257F94BDAE}"/>
              </a:ext>
            </a:extLst>
          </p:cNvPr>
          <p:cNvSpPr txBox="1"/>
          <p:nvPr/>
        </p:nvSpPr>
        <p:spPr>
          <a:xfrm>
            <a:off x="8473440" y="4132685"/>
            <a:ext cx="3312160" cy="1795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en-US" sz="15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Topic dominance:</a:t>
            </a:r>
            <a:endParaRPr lang="en-US" sz="150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Top topics highlight what the media is focusing on (e.g., energy, politics, health).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Emerging topics show new narratives gaining attention.</a:t>
            </a:r>
          </a:p>
        </p:txBody>
      </p:sp>
    </p:spTree>
    <p:extLst>
      <p:ext uri="{BB962C8B-B14F-4D97-AF65-F5344CB8AC3E}">
        <p14:creationId xmlns:p14="http://schemas.microsoft.com/office/powerpoint/2010/main" val="2511912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DB364-37D6-A03F-E366-C58103B8B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93726AA-E205-0BF3-916C-623C89A42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611" y="0"/>
            <a:ext cx="11961389" cy="13107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C34C51-62E8-19AC-F9F5-8435BC9865FB}"/>
              </a:ext>
            </a:extLst>
          </p:cNvPr>
          <p:cNvSpPr txBox="1"/>
          <p:nvPr/>
        </p:nvSpPr>
        <p:spPr>
          <a:xfrm>
            <a:off x="1730477" y="738103"/>
            <a:ext cx="10914165" cy="1088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50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5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50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208E2F-0147-28D8-47DB-C038E0FD23ED}"/>
              </a:ext>
            </a:extLst>
          </p:cNvPr>
          <p:cNvSpPr txBox="1"/>
          <p:nvPr/>
        </p:nvSpPr>
        <p:spPr>
          <a:xfrm>
            <a:off x="1730477" y="193712"/>
            <a:ext cx="75905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Visualization-Tab3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2211DD-9787-BFA6-562F-CFB8F3B64D22}"/>
              </a:ext>
            </a:extLst>
          </p:cNvPr>
          <p:cNvSpPr txBox="1"/>
          <p:nvPr/>
        </p:nvSpPr>
        <p:spPr>
          <a:xfrm>
            <a:off x="127076" y="1559768"/>
            <a:ext cx="2193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 Review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623FE7-9587-743E-0FFC-E213E73F5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707" y="2615930"/>
            <a:ext cx="11378438" cy="42420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C83F93D-512D-F32C-5E41-03CFBDC380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4651" y="973871"/>
            <a:ext cx="3215919" cy="153937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C5FEC70-BE24-F3AF-ED04-F617893036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011973"/>
            <a:ext cx="3208298" cy="146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64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12A7D-1BF1-51D8-0097-2DDE4AEE4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D36CB7-A070-AD5F-E921-939F39E51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611" y="0"/>
            <a:ext cx="11961389" cy="13107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FF7A89-3424-1609-9B0C-CC69EAAE85DE}"/>
              </a:ext>
            </a:extLst>
          </p:cNvPr>
          <p:cNvSpPr txBox="1"/>
          <p:nvPr/>
        </p:nvSpPr>
        <p:spPr>
          <a:xfrm>
            <a:off x="1730477" y="738103"/>
            <a:ext cx="10914165" cy="1088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50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5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50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74CDEA-289A-26D3-100B-EAA315F18429}"/>
              </a:ext>
            </a:extLst>
          </p:cNvPr>
          <p:cNvSpPr txBox="1"/>
          <p:nvPr/>
        </p:nvSpPr>
        <p:spPr>
          <a:xfrm>
            <a:off x="1730477" y="193712"/>
            <a:ext cx="75905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Visualization-Tab4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1A1EEE-4BD7-2267-FE20-1870F04EFDCB}"/>
              </a:ext>
            </a:extLst>
          </p:cNvPr>
          <p:cNvSpPr txBox="1"/>
          <p:nvPr/>
        </p:nvSpPr>
        <p:spPr>
          <a:xfrm>
            <a:off x="832962" y="868628"/>
            <a:ext cx="2193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Brand Risk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BC5F29-6566-77A4-3534-7651EAAEC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610" y="1363405"/>
            <a:ext cx="6136639" cy="33762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D3394D-0590-5A1E-78D1-B5643E93B3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610" y="4913556"/>
            <a:ext cx="6136640" cy="18517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1E32860-ABEC-1410-ADB3-FAAD43E4C1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8260" y="1363405"/>
            <a:ext cx="3984434" cy="30999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E39CCF2-4634-AF5A-BBA0-EA54631BAAFF}"/>
              </a:ext>
            </a:extLst>
          </p:cNvPr>
          <p:cNvSpPr txBox="1"/>
          <p:nvPr/>
        </p:nvSpPr>
        <p:spPr>
          <a:xfrm>
            <a:off x="6532880" y="4685287"/>
            <a:ext cx="5588000" cy="222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Organizations repeatedly exposed to anomalous coverage is high risk brands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Nature of risk:</a:t>
            </a:r>
            <a:r>
              <a:rPr lang="en-US" sz="14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Whether it’s driven by negative sentiment, location mismatches, or spikes in volume.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Narrative context:</a:t>
            </a:r>
            <a:r>
              <a:rPr lang="en-US" sz="14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Which topics are linked to brand risk (e.g., energy, politics, health).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Actionable insight:</a:t>
            </a:r>
            <a:r>
              <a:rPr lang="en-US" sz="14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Stakeholders can see not just </a:t>
            </a:r>
            <a:r>
              <a:rPr lang="en-US" sz="1400" i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lang="en-US" sz="14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they’re at risk, but </a:t>
            </a:r>
            <a:r>
              <a:rPr lang="en-US" sz="1400" i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r>
              <a:rPr lang="en-US" sz="14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9871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1344</TotalTime>
  <Words>1573</Words>
  <Application>Microsoft Office PowerPoint</Application>
  <PresentationFormat>Widescreen</PresentationFormat>
  <Paragraphs>189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Geetha Palanisamy</dc:creator>
  <cp:lastModifiedBy>Geetha Palanisamy</cp:lastModifiedBy>
  <cp:revision>56</cp:revision>
  <dcterms:created xsi:type="dcterms:W3CDTF">2026-01-12T09:52:00Z</dcterms:created>
  <dcterms:modified xsi:type="dcterms:W3CDTF">2026-01-17T08:22:58Z</dcterms:modified>
</cp:coreProperties>
</file>